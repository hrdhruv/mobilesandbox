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7" r:id="rId1"/>
    <p:sldId id="258" r:id="rId2"/>
    <p:sldId id="259" r:id="rId3"/>
    <p:sldId id="260" r:id="rId4"/>
    <p:sldId id="261" r:id="rId5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224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0000" y="160000"/>
            <a:ext cx="10800000" cy="3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</a:rPr>
              <a:t>MobileSandbox</a:t>
            </a:r>
            <a:endParaRPr lang="en-US" sz="3000"/>
          </a:p>
        </p:txBody>
      </p:sp>
      <p:sp>
        <p:nvSpPr>
          <p:cNvPr id="5" name="TextBox 5"/>
          <p:cNvSpPr txBox="1"/>
          <p:nvPr/>
        </p:nvSpPr>
        <p:spPr>
          <a:xfrm>
            <a:off x="560000" y="950000"/>
            <a:ext cx="6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A0BEE8"/>
                </a:solidFill>
              </a:rPr>
              <a:t>Android app permission risk analysis with pre-install APK sandboxing</a:t>
            </a:r>
            <a:endParaRPr lang="en-US" sz="2200"/>
          </a:p>
        </p:txBody>
      </p:sp>
      <p:sp>
        <p:nvSpPr>
          <p:cNvPr id="6" name="TextBox 6"/>
          <p:cNvSpPr txBox="1"/>
          <p:nvPr/>
        </p:nvSpPr>
        <p:spPr>
          <a:xfrm>
            <a:off x="560000" y="1450000"/>
            <a:ext cx="4200000" cy="36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txBody>
          <a:bodyPr wrap="square"/>
          <a:lstStyle/>
          <a:p>
            <a:r>
              <a:rPr lang="en-US" sz="1700">
                <a:solidFill>
                  <a:srgbClr val="FFFFFF"/>
                </a:solidFill>
              </a:rPr>
              <a:t>Final Project Demo | 15 minutes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760000" y="2200000"/>
            <a:ext cx="6100000" cy="2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FFFFFF"/>
                </a:solidFill>
              </a:rPr>
              <a:t>• Scans installed apps and selected APK/split APK files</a:t>
            </a:r>
            <a:endParaRPr lang="en-US" sz="1800"/>
          </a:p>
          <a:p>
            <a:r>
              <a:rPr lang="en-US" sz="1800">
                <a:solidFill>
                  <a:srgbClr val="FFFFFF"/>
                </a:solidFill>
              </a:rPr>
              <a:t>• Scores privacy/security risk from 0-100</a:t>
            </a:r>
            <a:endParaRPr lang="en-US" sz="1800"/>
          </a:p>
          <a:p>
            <a:r>
              <a:rPr lang="en-US" sz="1800">
                <a:solidFill>
                  <a:srgbClr val="FFFFFF"/>
                </a:solidFill>
              </a:rPr>
              <a:t>• Classifies apps as SAFE, HANDLE WITH CARE, SUSPICIOUS, or DANGEROUS</a:t>
            </a:r>
            <a:endParaRPr lang="en-US" sz="1800"/>
          </a:p>
          <a:p>
            <a:r>
              <a:rPr lang="en-US" sz="1800">
                <a:solidFill>
                  <a:srgbClr val="FFFFFF"/>
                </a:solidFill>
              </a:rPr>
              <a:t>• Stores scan history and accepts Safe/Malware feedback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7700000" y="1350000"/>
            <a:ext cx="2900000" cy="2900000"/>
          </a:xfrm>
          <a:prstGeom prst="roundRect">
            <a:avLst/>
          </a:prstGeom>
          <a:solidFill>
            <a:srgbClr val="163B2B"/>
          </a:solidFill>
          <a:ln w="12700">
            <a:solidFill>
              <a:srgbClr val="2ECC7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000000" y="1780000"/>
            <a:ext cx="23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2ECC71"/>
                </a:solidFill>
              </a:rPr>
              <a:t>0-100</a:t>
            </a:r>
            <a:endParaRPr lang="en-US" sz="4200"/>
          </a:p>
        </p:txBody>
      </p:sp>
      <p:sp>
        <p:nvSpPr>
          <p:cNvPr id="10" name="TextBox 10"/>
          <p:cNvSpPr txBox="1"/>
          <p:nvPr/>
        </p:nvSpPr>
        <p:spPr>
          <a:xfrm>
            <a:off x="8050000" y="2400000"/>
            <a:ext cx="2300000" cy="1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FFFFFF"/>
                </a:solidFill>
              </a:rPr>
              <a:t>Risk Score
Permission + ML + Bayesian signals</a:t>
            </a:r>
            <a:endParaRPr lang="en-US" sz="2000"/>
          </a:p>
        </p:txBody>
      </p:sp>
      <p:sp>
        <p:nvSpPr>
          <p:cNvPr id="11" name="TextBox 11"/>
          <p:cNvSpPr txBox="1"/>
          <p:nvPr/>
        </p:nvSpPr>
        <p:spPr>
          <a:xfrm>
            <a:off x="560000" y="620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A0BEE8"/>
                </a:solidFill>
              </a:rPr>
              <a:t>Android Kotlin client + FastAPI ML analysis server + SQLite persistence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224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0000" y="160000"/>
            <a:ext cx="10800000" cy="3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</a:rPr>
              <a:t>System Architecture &amp; Data Flow</a:t>
            </a:r>
            <a:endParaRPr lang="en-US" sz="3000"/>
          </a:p>
        </p:txBody>
      </p:sp>
      <p:sp>
        <p:nvSpPr>
          <p:cNvPr id="5" name="TextBox 5"/>
          <p:cNvSpPr txBox="1"/>
          <p:nvPr/>
        </p:nvSpPr>
        <p:spPr>
          <a:xfrm>
            <a:off x="560000" y="980000"/>
            <a:ext cx="565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FFFFFF"/>
                </a:solidFill>
              </a:rPr>
              <a:t>• Android app reads package name and permissions using PackageManager</a:t>
            </a:r>
            <a:endParaRPr lang="en-US" sz="1600"/>
          </a:p>
          <a:p>
            <a:r>
              <a:rPr lang="en-US" sz="1600">
                <a:solidFill>
                  <a:srgbClr val="FFFFFF"/>
                </a:solidFill>
              </a:rPr>
              <a:t>• Pre-install APKs are copied into app-private cache before inspection</a:t>
            </a:r>
            <a:endParaRPr lang="en-US" sz="1600"/>
          </a:p>
          <a:p>
            <a:r>
              <a:rPr lang="en-US" sz="1600">
                <a:solidFill>
                  <a:srgbClr val="FFFFFF"/>
                </a:solidFill>
              </a:rPr>
              <a:t>• FastAPI /analyze endpoint receives package_name + permissions</a:t>
            </a:r>
            <a:endParaRPr lang="en-US" sz="1600"/>
          </a:p>
          <a:p>
            <a:r>
              <a:rPr lang="en-US" sz="1600">
                <a:solidFill>
                  <a:srgbClr val="FFFFFF"/>
                </a:solidFill>
              </a:rPr>
              <a:t>• ML engine returns score, risk level, PII list, sensitive list, threats, confidence</a:t>
            </a:r>
            <a:endParaRPr lang="en-US" sz="1600"/>
          </a:p>
          <a:p>
            <a:r>
              <a:rPr lang="en-US" sz="1600">
                <a:solidFill>
                  <a:srgbClr val="FFFFFF"/>
                </a:solidFill>
              </a:rPr>
              <a:t>• SQLite stores scan history and user feedback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6400000" y="1550000"/>
            <a:ext cx="1600000" cy="85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A0BEE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20000" y="1820000"/>
            <a:ext cx="136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</a:rPr>
              <a:t>Android App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8050000" y="185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600">
                <a:solidFill>
                  <a:srgbClr val="2ECC71"/>
                </a:solidFill>
              </a:rPr>
              <a:t>→</a:t>
            </a:r>
            <a:endParaRPr lang="en-US" sz="2600"/>
          </a:p>
        </p:txBody>
      </p:sp>
      <p:sp>
        <p:nvSpPr>
          <p:cNvPr id="9" name="Shape 9"/>
          <p:cNvSpPr/>
          <p:nvPr/>
        </p:nvSpPr>
        <p:spPr>
          <a:xfrm>
            <a:off x="8400000" y="1550000"/>
            <a:ext cx="1600000" cy="85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A0BEE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520000" y="1820000"/>
            <a:ext cx="136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</a:rPr>
              <a:t>FastAPI Server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10050000" y="185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600">
                <a:solidFill>
                  <a:srgbClr val="2ECC71"/>
                </a:solidFill>
              </a:rPr>
              <a:t>→</a:t>
            </a:r>
            <a:endParaRPr lang="en-US" sz="2600"/>
          </a:p>
        </p:txBody>
      </p:sp>
      <p:sp>
        <p:nvSpPr>
          <p:cNvPr id="12" name="Shape 12"/>
          <p:cNvSpPr/>
          <p:nvPr/>
        </p:nvSpPr>
        <p:spPr>
          <a:xfrm>
            <a:off x="10400000" y="1550000"/>
            <a:ext cx="1600000" cy="85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A0B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520000" y="1820000"/>
            <a:ext cx="136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</a:rPr>
              <a:t>ML Engine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12050000" y="1850000"/>
            <a:ext cx="4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600">
                <a:solidFill>
                  <a:srgbClr val="2ECC71"/>
                </a:solidFill>
              </a:rPr>
              <a:t>→</a:t>
            </a:r>
            <a:endParaRPr lang="en-US" sz="2600"/>
          </a:p>
        </p:txBody>
      </p:sp>
      <p:sp>
        <p:nvSpPr>
          <p:cNvPr id="15" name="Shape 15"/>
          <p:cNvSpPr/>
          <p:nvPr/>
        </p:nvSpPr>
        <p:spPr>
          <a:xfrm>
            <a:off x="12400000" y="1550000"/>
            <a:ext cx="1600000" cy="85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A0BE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2520000" y="1820000"/>
            <a:ext cx="136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</a:rPr>
              <a:t>SQLite DB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6550000" y="3000000"/>
            <a:ext cx="4400000" cy="150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2ECC71"/>
            </a:solidFill>
          </a:ln>
        </p:spPr>
        <p:txBody>
          <a:bodyPr wrap="square"/>
          <a:lstStyle/>
          <a:p>
            <a:r>
              <a:rPr lang="en-US" sz="1800">
                <a:solidFill>
                  <a:srgbClr val="FFFFFF"/>
                </a:solidFill>
              </a:rPr>
              <a:t>Endpoints: /analyze, /feedback, /scan/history, /stats, /retrain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224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0000" y="160000"/>
            <a:ext cx="10800000" cy="3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</a:rPr>
              <a:t>Hybrid Risk Scoring Workflow</a:t>
            </a:r>
            <a:endParaRPr lang="en-US" sz="3000"/>
          </a:p>
        </p:txBody>
      </p:sp>
      <p:sp>
        <p:nvSpPr>
          <p:cNvPr id="5" name="TextBox 5"/>
          <p:cNvSpPr txBox="1"/>
          <p:nvPr/>
        </p:nvSpPr>
        <p:spPr>
          <a:xfrm>
            <a:off x="560000" y="920000"/>
            <a:ext cx="650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>
                <a:solidFill>
                  <a:srgbClr val="FFFFFF"/>
                </a:solidFill>
              </a:rPr>
              <a:t>• Signal A: static per-permission risk weights for SMS, contacts, location, camera, install packages, etc.</a:t>
            </a:r>
            <a:endParaRPr lang="en-US" sz="1500"/>
          </a:p>
          <a:p>
            <a:r>
              <a:rPr lang="en-US" sz="1500">
                <a:solidFill>
                  <a:srgbClr val="FFFFFF"/>
                </a:solidFill>
              </a:rPr>
              <a:t>• Signal B: GradientBoostingClassifier probability signal from dataset/model files</a:t>
            </a:r>
            <a:endParaRPr lang="en-US" sz="1500"/>
          </a:p>
          <a:p>
            <a:r>
              <a:rPr lang="en-US" sz="1500">
                <a:solidFill>
                  <a:srgbClr val="FFFFFF"/>
                </a:solidFill>
              </a:rPr>
              <a:t>• Signal C: safe-biased Bayesian prior so unknown apps do not start as high risk</a:t>
            </a:r>
            <a:endParaRPr lang="en-US" sz="1500"/>
          </a:p>
          <a:p>
            <a:r>
              <a:rPr lang="en-US" sz="1500">
                <a:solidFill>
                  <a:srgbClr val="FFFFFF"/>
                </a:solidFill>
              </a:rPr>
              <a:t>• Final blend: 58% static + 24% ML + 18% prior when ML is available</a:t>
            </a:r>
            <a:endParaRPr lang="en-US" sz="1500"/>
          </a:p>
          <a:p>
            <a:r>
              <a:rPr lang="en-US" sz="1500">
                <a:solidFill>
                  <a:srgbClr val="FFFFFF"/>
                </a:solidFill>
              </a:rPr>
              <a:t>• Calibration: dangerous combos, sparse-permission dampener, high-risk volume logic, known-safe caps, confidence score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7800000" y="1050000"/>
            <a:ext cx="2850000" cy="560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00000" y="1175000"/>
            <a:ext cx="18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 b="1">
                <a:solidFill>
                  <a:srgbClr val="FFFFFF"/>
                </a:solidFill>
              </a:rPr>
              <a:t>SAFE</a:t>
            </a:r>
            <a:endParaRPr lang="en-US" sz="1150"/>
          </a:p>
        </p:txBody>
      </p:sp>
      <p:sp>
        <p:nvSpPr>
          <p:cNvPr id="8" name="TextBox 8"/>
          <p:cNvSpPr txBox="1"/>
          <p:nvPr/>
        </p:nvSpPr>
        <p:spPr>
          <a:xfrm>
            <a:off x="9700000" y="1175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&lt; 30</a:t>
            </a:r>
            <a:endParaRPr lang="en-US" sz="1150"/>
          </a:p>
        </p:txBody>
      </p:sp>
      <p:sp>
        <p:nvSpPr>
          <p:cNvPr id="9" name="Shape 9"/>
          <p:cNvSpPr/>
          <p:nvPr/>
        </p:nvSpPr>
        <p:spPr>
          <a:xfrm>
            <a:off x="7800000" y="1760000"/>
            <a:ext cx="2850000" cy="560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00000" y="1885000"/>
            <a:ext cx="18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 b="1">
                <a:solidFill>
                  <a:srgbClr val="FFFFFF"/>
                </a:solidFill>
              </a:rPr>
              <a:t>HANDLE WITH CARE</a:t>
            </a:r>
            <a:endParaRPr lang="en-US" sz="1150"/>
          </a:p>
        </p:txBody>
      </p:sp>
      <p:sp>
        <p:nvSpPr>
          <p:cNvPr id="11" name="TextBox 11"/>
          <p:cNvSpPr txBox="1"/>
          <p:nvPr/>
        </p:nvSpPr>
        <p:spPr>
          <a:xfrm>
            <a:off x="9700000" y="1885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30-55</a:t>
            </a:r>
            <a:endParaRPr lang="en-US" sz="1150"/>
          </a:p>
        </p:txBody>
      </p:sp>
      <p:sp>
        <p:nvSpPr>
          <p:cNvPr id="12" name="Shape 12"/>
          <p:cNvSpPr/>
          <p:nvPr/>
        </p:nvSpPr>
        <p:spPr>
          <a:xfrm>
            <a:off x="7800000" y="2470000"/>
            <a:ext cx="2850000" cy="56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000000" y="2595000"/>
            <a:ext cx="18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 b="1">
                <a:solidFill>
                  <a:srgbClr val="FFFFFF"/>
                </a:solidFill>
              </a:rPr>
              <a:t>SUSPICIOUS</a:t>
            </a:r>
            <a:endParaRPr lang="en-US" sz="1150"/>
          </a:p>
        </p:txBody>
      </p:sp>
      <p:sp>
        <p:nvSpPr>
          <p:cNvPr id="14" name="TextBox 14"/>
          <p:cNvSpPr txBox="1"/>
          <p:nvPr/>
        </p:nvSpPr>
        <p:spPr>
          <a:xfrm>
            <a:off x="9700000" y="2595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55-75</a:t>
            </a:r>
            <a:endParaRPr lang="en-US" sz="1150"/>
          </a:p>
        </p:txBody>
      </p:sp>
      <p:sp>
        <p:nvSpPr>
          <p:cNvPr id="15" name="Shape 15"/>
          <p:cNvSpPr/>
          <p:nvPr/>
        </p:nvSpPr>
        <p:spPr>
          <a:xfrm>
            <a:off x="7800000" y="3180000"/>
            <a:ext cx="2850000" cy="560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000000" y="3305000"/>
            <a:ext cx="18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 b="1">
                <a:solidFill>
                  <a:srgbClr val="FFFFFF"/>
                </a:solidFill>
              </a:rPr>
              <a:t>DANGEROUS</a:t>
            </a:r>
            <a:endParaRPr lang="en-US" sz="1150"/>
          </a:p>
        </p:txBody>
      </p:sp>
      <p:sp>
        <p:nvSpPr>
          <p:cNvPr id="17" name="TextBox 17"/>
          <p:cNvSpPr txBox="1"/>
          <p:nvPr/>
        </p:nvSpPr>
        <p:spPr>
          <a:xfrm>
            <a:off x="9700000" y="3305000"/>
            <a:ext cx="70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&gt;= 75</a:t>
            </a:r>
            <a:endParaRPr lang="en-US" sz="1150"/>
          </a:p>
        </p:txBody>
      </p:sp>
      <p:sp>
        <p:nvSpPr>
          <p:cNvPr id="18" name="TextBox 18"/>
          <p:cNvSpPr txBox="1"/>
          <p:nvPr/>
        </p:nvSpPr>
        <p:spPr>
          <a:xfrm>
            <a:off x="7800000" y="4350000"/>
            <a:ext cx="2850000" cy="90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A0BEE8"/>
            </a:solidFill>
          </a:ln>
        </p:spPr>
        <p:txBody>
          <a:bodyPr wrap="square"/>
          <a:lstStyle/>
          <a:p>
            <a:r>
              <a:rPr lang="en-US" sz="1500">
                <a:solidFill>
                  <a:srgbClr val="FFFFFF"/>
                </a:solidFill>
              </a:rPr>
              <a:t>Output: risk_level, score, PII list, sensitive list, detected threats, confidence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224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0000" y="160000"/>
            <a:ext cx="10800000" cy="3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</a:rPr>
              <a:t>Application Workflow &amp; Features</a:t>
            </a:r>
            <a:endParaRPr lang="en-US" sz="3000"/>
          </a:p>
        </p:txBody>
      </p:sp>
      <p:sp>
        <p:nvSpPr>
          <p:cNvPr id="5" name="TextBox 5"/>
          <p:cNvSpPr txBox="1"/>
          <p:nvPr/>
        </p:nvSpPr>
        <p:spPr>
          <a:xfrm>
            <a:off x="560000" y="920000"/>
            <a:ext cx="61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>
                <a:solidFill>
                  <a:srgbClr val="FFFFFF"/>
                </a:solidFill>
              </a:rPr>
              <a:t>• Installed scan: tap scan, collect non-system apps, send each permission list to backend, show result cards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Result card: risk badge, score meter, PII permissions, sensitive permissions, Safe/Malware feedback buttons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Pre-install scan: user selects APK or split APK bundle, app extracts permissions without installing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Decision step: install through Android PackageInstaller or reject and delete staged sandbox copy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History tab: loads /scan/history, shows recent scans and total scan count</a:t>
            </a:r>
            <a:endParaRPr lang="en-US" sz="1450"/>
          </a:p>
        </p:txBody>
      </p:sp>
      <p:sp>
        <p:nvSpPr>
          <p:cNvPr id="6" name="Shape 6"/>
          <p:cNvSpPr/>
          <p:nvPr/>
        </p:nvSpPr>
        <p:spPr>
          <a:xfrm>
            <a:off x="6900000" y="1200000"/>
            <a:ext cx="1450000" cy="275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A0BEE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030000" y="1450000"/>
            <a:ext cx="12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50" b="1">
                <a:solidFill>
                  <a:srgbClr val="2ECC71"/>
                </a:solidFill>
              </a:rPr>
              <a:t>Installed Apps</a:t>
            </a:r>
            <a:endParaRPr lang="en-US" sz="1350"/>
          </a:p>
        </p:txBody>
      </p:sp>
      <p:sp>
        <p:nvSpPr>
          <p:cNvPr id="8" name="TextBox 8"/>
          <p:cNvSpPr txBox="1"/>
          <p:nvPr/>
        </p:nvSpPr>
        <p:spPr>
          <a:xfrm>
            <a:off x="7030000" y="1900000"/>
            <a:ext cx="12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• Scan current apps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Score each app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Submit feedback</a:t>
            </a:r>
            <a:endParaRPr lang="en-US" sz="1150"/>
          </a:p>
        </p:txBody>
      </p:sp>
      <p:sp>
        <p:nvSpPr>
          <p:cNvPr id="9" name="Shape 9"/>
          <p:cNvSpPr/>
          <p:nvPr/>
        </p:nvSpPr>
        <p:spPr>
          <a:xfrm>
            <a:off x="8500000" y="1200000"/>
            <a:ext cx="1450000" cy="275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A0BEE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30000" y="1450000"/>
            <a:ext cx="12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50" b="1">
                <a:solidFill>
                  <a:srgbClr val="2ECC71"/>
                </a:solidFill>
              </a:rPr>
              <a:t>Pre-install APK</a:t>
            </a:r>
            <a:endParaRPr lang="en-US" sz="1350"/>
          </a:p>
        </p:txBody>
      </p:sp>
      <p:sp>
        <p:nvSpPr>
          <p:cNvPr id="11" name="TextBox 11"/>
          <p:cNvSpPr txBox="1"/>
          <p:nvPr/>
        </p:nvSpPr>
        <p:spPr>
          <a:xfrm>
            <a:off x="8630000" y="1900000"/>
            <a:ext cx="12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• Stage in sandbox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Analyze before install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Install or reject</a:t>
            </a:r>
            <a:endParaRPr lang="en-US" sz="1150"/>
          </a:p>
        </p:txBody>
      </p:sp>
      <p:sp>
        <p:nvSpPr>
          <p:cNvPr id="12" name="Shape 12"/>
          <p:cNvSpPr/>
          <p:nvPr/>
        </p:nvSpPr>
        <p:spPr>
          <a:xfrm>
            <a:off x="10100000" y="1200000"/>
            <a:ext cx="1450000" cy="275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A0B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230000" y="1450000"/>
            <a:ext cx="12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50" b="1">
                <a:solidFill>
                  <a:srgbClr val="2ECC71"/>
                </a:solidFill>
              </a:rPr>
              <a:t>History</a:t>
            </a:r>
            <a:endParaRPr lang="en-US" sz="1350"/>
          </a:p>
        </p:txBody>
      </p:sp>
      <p:sp>
        <p:nvSpPr>
          <p:cNvPr id="14" name="TextBox 14"/>
          <p:cNvSpPr txBox="1"/>
          <p:nvPr/>
        </p:nvSpPr>
        <p:spPr>
          <a:xfrm>
            <a:off x="10230000" y="1900000"/>
            <a:ext cx="12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• SQLite records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Recent scan list</a:t>
            </a:r>
            <a:endParaRPr lang="en-US" sz="1150"/>
          </a:p>
          <a:p>
            <a:r>
              <a:rPr lang="en-US" sz="1150">
                <a:solidFill>
                  <a:srgbClr val="FFFFFF"/>
                </a:solidFill>
              </a:rPr>
              <a:t>• Duplicate guard</a:t>
            </a:r>
            <a:endParaRPr lang="en-US" sz="1150"/>
          </a:p>
        </p:txBody>
      </p:sp>
      <p:sp>
        <p:nvSpPr>
          <p:cNvPr id="15" name="TextBox 15"/>
          <p:cNvSpPr txBox="1"/>
          <p:nvPr/>
        </p:nvSpPr>
        <p:spPr>
          <a:xfrm>
            <a:off x="6900000" y="4650000"/>
            <a:ext cx="4650000" cy="630000"/>
          </a:xfrm>
          <a:prstGeom prst="roundRect">
            <a:avLst/>
          </a:prstGeom>
          <a:solidFill>
            <a:srgbClr val="163B2B"/>
          </a:solidFill>
          <a:ln w="12700">
            <a:solidFill>
              <a:srgbClr val="2ECC71"/>
            </a:solidFill>
          </a:ln>
        </p:spPr>
        <p:txBody>
          <a:bodyPr wrap="square"/>
          <a:lstStyle/>
          <a:p>
            <a:r>
              <a:rPr lang="en-US" sz="1500">
                <a:solidFill>
                  <a:srgbClr val="FFFFFF"/>
                </a:solidFill>
              </a:rPr>
              <a:t>Demo focus: show how a user moves from scan → result → decision → history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224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0000" y="160000"/>
            <a:ext cx="10800000" cy="3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FFFFFF"/>
                </a:solidFill>
              </a:rPr>
              <a:t>15-Minute Demo Plan &amp; Future Scope</a:t>
            </a:r>
            <a:endParaRPr lang="en-US" sz="3000"/>
          </a:p>
        </p:txBody>
      </p:sp>
      <p:sp>
        <p:nvSpPr>
          <p:cNvPr id="5" name="TextBox 5"/>
          <p:cNvSpPr txBox="1"/>
          <p:nvPr/>
        </p:nvSpPr>
        <p:spPr>
          <a:xfrm>
            <a:off x="560000" y="900000"/>
            <a:ext cx="6200000" cy="4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>
                <a:solidFill>
                  <a:srgbClr val="FFFFFF"/>
                </a:solidFill>
              </a:rPr>
              <a:t>• 1. Start FastAPI backend and confirm model/database initialization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2. Open Android app and run installed-app scan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3. Explain one result card: score, risk level, PII, sensitive permissions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4. Open History tab and show persisted scan records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5. Run pre-install APK scan and demonstrate install/reject decision</a:t>
            </a:r>
            <a:endParaRPr lang="en-US" sz="1450"/>
          </a:p>
          <a:p>
            <a:r>
              <a:rPr lang="en-US" sz="1450">
                <a:solidFill>
                  <a:srgbClr val="FFFFFF"/>
                </a:solidFill>
              </a:rPr>
              <a:t>• 6. Submit feedback and mention adaptive retraining path</a:t>
            </a:r>
            <a:endParaRPr lang="en-US" sz="1450"/>
          </a:p>
        </p:txBody>
      </p:sp>
      <p:sp>
        <p:nvSpPr>
          <p:cNvPr id="6" name="Shape 6"/>
          <p:cNvSpPr/>
          <p:nvPr/>
        </p:nvSpPr>
        <p:spPr>
          <a:xfrm>
            <a:off x="7400000" y="1100000"/>
            <a:ext cx="3300000" cy="37000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A0BEE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650000" y="1350000"/>
            <a:ext cx="2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2ECC71"/>
                </a:solidFill>
              </a:rPr>
              <a:t>Future Scope</a:t>
            </a:r>
            <a:endParaRPr lang="en-US" sz="1800"/>
          </a:p>
        </p:txBody>
      </p:sp>
      <p:sp>
        <p:nvSpPr>
          <p:cNvPr id="8" name="TextBox 8"/>
          <p:cNvSpPr txBox="1"/>
          <p:nvPr/>
        </p:nvSpPr>
        <p:spPr>
          <a:xfrm>
            <a:off x="7650000" y="1850000"/>
            <a:ext cx="28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FFFFFF"/>
                </a:solidFill>
              </a:rPr>
              <a:t>• Richer APK static analysis</a:t>
            </a:r>
            <a:endParaRPr lang="en-US" sz="1400"/>
          </a:p>
          <a:p>
            <a:r>
              <a:rPr lang="en-US" sz="1400">
                <a:solidFill>
                  <a:srgbClr val="FFFFFF"/>
                </a:solidFill>
              </a:rPr>
              <a:t>• Top-reason explainability</a:t>
            </a:r>
            <a:endParaRPr lang="en-US" sz="1400"/>
          </a:p>
          <a:p>
            <a:r>
              <a:rPr lang="en-US" sz="1400">
                <a:solidFill>
                  <a:srgbClr val="FFFFFF"/>
                </a:solidFill>
              </a:rPr>
              <a:t>• Cloud backend deployment</a:t>
            </a:r>
            <a:endParaRPr lang="en-US" sz="1400"/>
          </a:p>
          <a:p>
            <a:r>
              <a:rPr lang="en-US" sz="1400">
                <a:solidFill>
                  <a:srgbClr val="FFFFFF"/>
                </a:solidFill>
              </a:rPr>
              <a:t>• Larger malware dataset</a:t>
            </a:r>
            <a:endParaRPr lang="en-US" sz="1400"/>
          </a:p>
          <a:p>
            <a:r>
              <a:rPr lang="en-US" sz="1400">
                <a:solidFill>
                  <a:srgbClr val="FFFFFF"/>
                </a:solidFill>
              </a:rPr>
              <a:t>• Per-user dashboard/authentication</a:t>
            </a:r>
            <a:endParaRPr lang="en-US" sz="1400"/>
          </a:p>
        </p:txBody>
      </p:sp>
      <p:sp>
        <p:nvSpPr>
          <p:cNvPr id="9" name="TextBox 9"/>
          <p:cNvSpPr txBox="1"/>
          <p:nvPr/>
        </p:nvSpPr>
        <p:spPr>
          <a:xfrm>
            <a:off x="560000" y="602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A0BEE8"/>
                </a:solidFill>
              </a:rPr>
              <a:t>Presentation timing: 2 min overview + 3 min architecture + 4 min scoring + 3 min app workflow + 3 min live demo plan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ileSandbox">
  <a:themeElements>
    <a:clrScheme name="MobileSandbox">
      <a:dk1>
        <a:srgbClr val="0B1020"/>
      </a:dk1>
      <a:lt1>
        <a:srgbClr val="FFFFFF"/>
      </a:lt1>
      <a:dk2>
        <a:srgbClr val="12244A"/>
      </a:dk2>
      <a:lt2>
        <a:srgbClr val="A0BEE8"/>
      </a:lt2>
      <a:accent1>
        <a:srgbClr val="2ECC71"/>
      </a:accent1>
      <a:accent2>
        <a:srgbClr val="F39C12"/>
      </a:accent2>
      <a:accent3>
        <a:srgbClr val="E74C3C"/>
      </a:accent3>
      <a:accent4>
        <a:srgbClr val="E67E22"/>
      </a:accent4>
      <a:accent5>
        <a:srgbClr val="5C6BC0"/>
      </a:accent5>
      <a:accent6>
        <a:srgbClr val="132033"/>
      </a:accent6>
      <a:hlink>
        <a:srgbClr val="A0BEE8"/>
      </a:hlink>
      <a:folHlink>
        <a:srgbClr val="A0BEE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MobileSandbox 5 Slide Demo</dc:title>
  <dc:creator>Codex</dc:creator>
  <cp:lastModifiedBy>Codex</cp:lastModifiedBy>
  <dcterms:created xsi:type="dcterms:W3CDTF">2026-04-28T17:11:17Z</dcterms:created>
  <dcterms:modified xsi:type="dcterms:W3CDTF">2026-04-28T17:11:17Z</dcterms:modified>
</cp:coreProperties>
</file>